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afd6f02484c16" /><Relationship Type="http://schemas.openxmlformats.org/officeDocument/2006/relationships/extended-properties" Target="/docProps/app.xml" Id="Rbe9d11db3bc34d74" /><Relationship Type="http://schemas.openxmlformats.org/officeDocument/2006/relationships/officeDocument" Target="/ppt/presentation.xml" Id="R2698a189d080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1c3be25a042bd"/>
  </p:sldMasterIdLst>
  <p:notesMasterIdLst>
    <p:notesMasterId xmlns:r="http://schemas.openxmlformats.org/officeDocument/2006/relationships" r:id="Ra7e6555c54554b5b"/>
  </p:notesMasterIdLst>
  <p:sldIdLst>
    <p:sldId xmlns:r="http://schemas.openxmlformats.org/officeDocument/2006/relationships" id="256" r:id="R35a9d2480aad4237"/>
    <p:sldId xmlns:r="http://schemas.openxmlformats.org/officeDocument/2006/relationships" id="257" r:id="R3213b762cd3043df"/>
    <p:sldId xmlns:r="http://schemas.openxmlformats.org/officeDocument/2006/relationships" id="258" r:id="Rda16725e492645ec"/>
    <p:sldId xmlns:r="http://schemas.openxmlformats.org/officeDocument/2006/relationships" id="259" r:id="R998834583dc24a13"/>
    <p:sldId xmlns:r="http://schemas.openxmlformats.org/officeDocument/2006/relationships" id="260" r:id="R4896047aeaee4ba9"/>
    <p:sldId xmlns:r="http://schemas.openxmlformats.org/officeDocument/2006/relationships" id="261" r:id="Rf5fbc67e9b524318"/>
    <p:sldId xmlns:r="http://schemas.openxmlformats.org/officeDocument/2006/relationships" id="262" r:id="Rac902ed6d9844c7c"/>
    <p:sldId xmlns:r="http://schemas.openxmlformats.org/officeDocument/2006/relationships" id="263" r:id="R1add91bf1f774475"/>
    <p:sldId xmlns:r="http://schemas.openxmlformats.org/officeDocument/2006/relationships" id="264" r:id="R23eb77c640054efb"/>
    <p:sldId xmlns:r="http://schemas.openxmlformats.org/officeDocument/2006/relationships" id="265" r:id="R3868cbcc2ef84afa"/>
    <p:sldId xmlns:r="http://schemas.openxmlformats.org/officeDocument/2006/relationships" id="266" r:id="Rceff35180ab447f1"/>
    <p:sldId xmlns:r="http://schemas.openxmlformats.org/officeDocument/2006/relationships" id="267" r:id="Rd17f4b7ff70848d7"/>
    <p:sldId xmlns:r="http://schemas.openxmlformats.org/officeDocument/2006/relationships" id="268" r:id="R5bfe421ee3d94ca3"/>
    <p:sldId xmlns:r="http://schemas.openxmlformats.org/officeDocument/2006/relationships" id="269" r:id="R9e19097adf6d40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091219fac40b2" /><Relationship Type="http://schemas.openxmlformats.org/officeDocument/2006/relationships/slideMaster" Target="/ppt/slideMasters/slideMaster1.xml" Id="R8d61c3be25a042bd" /><Relationship Type="http://schemas.openxmlformats.org/officeDocument/2006/relationships/notesMaster" Target="/ppt/notesMasters/notesMaster1.xml" Id="Ra7e6555c54554b5b" /><Relationship Type="http://schemas.openxmlformats.org/officeDocument/2006/relationships/presProps" Target="/ppt/presProps.xml" Id="R10bcfdacfaa34cd9" /><Relationship Type="http://schemas.openxmlformats.org/officeDocument/2006/relationships/tableStyles" Target="/ppt/tableStyles.xml" Id="Rdb15e5dc9199460a" /><Relationship Type="http://schemas.openxmlformats.org/officeDocument/2006/relationships/slide" Target="/ppt/slides/slide1.xml" Id="R35a9d2480aad4237" /><Relationship Type="http://schemas.openxmlformats.org/officeDocument/2006/relationships/slide" Target="/ppt/slides/slide2.xml" Id="R3213b762cd3043df" /><Relationship Type="http://schemas.openxmlformats.org/officeDocument/2006/relationships/slide" Target="/ppt/slides/slide3.xml" Id="Rda16725e492645ec" /><Relationship Type="http://schemas.openxmlformats.org/officeDocument/2006/relationships/slide" Target="/ppt/slides/slide4.xml" Id="R998834583dc24a13" /><Relationship Type="http://schemas.openxmlformats.org/officeDocument/2006/relationships/slide" Target="/ppt/slides/slide5.xml" Id="R4896047aeaee4ba9" /><Relationship Type="http://schemas.openxmlformats.org/officeDocument/2006/relationships/slide" Target="/ppt/slides/slide6.xml" Id="Rf5fbc67e9b524318" /><Relationship Type="http://schemas.openxmlformats.org/officeDocument/2006/relationships/slide" Target="/ppt/slides/slide7.xml" Id="Rac902ed6d9844c7c" /><Relationship Type="http://schemas.openxmlformats.org/officeDocument/2006/relationships/slide" Target="/ppt/slides/slide8.xml" Id="R1add91bf1f774475" /><Relationship Type="http://schemas.openxmlformats.org/officeDocument/2006/relationships/slide" Target="/ppt/slides/slide9.xml" Id="R23eb77c640054efb" /><Relationship Type="http://schemas.openxmlformats.org/officeDocument/2006/relationships/slide" Target="/ppt/slides/slide10.xml" Id="R3868cbcc2ef84afa" /><Relationship Type="http://schemas.openxmlformats.org/officeDocument/2006/relationships/slide" Target="/ppt/slides/slide11.xml" Id="Rceff35180ab447f1" /><Relationship Type="http://schemas.openxmlformats.org/officeDocument/2006/relationships/slide" Target="/ppt/slides/slide12.xml" Id="Rd17f4b7ff70848d7" /><Relationship Type="http://schemas.openxmlformats.org/officeDocument/2006/relationships/slide" Target="/ppt/slides/slide13.xml" Id="R5bfe421ee3d94ca3" /><Relationship Type="http://schemas.openxmlformats.org/officeDocument/2006/relationships/slide" Target="/ppt/slides/slide14.xml" Id="R9e19097adf6d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e07315ea1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401955e2848b6" /><Relationship Type="http://schemas.openxmlformats.org/officeDocument/2006/relationships/notesMaster" Target="/ppt/notesMasters/notesMaster1.xml" Id="Rc3d36657b79f4d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7340695b341f1" /><Relationship Type="http://schemas.openxmlformats.org/officeDocument/2006/relationships/notesMaster" Target="/ppt/notesMasters/notesMaster1.xml" Id="R48de414f1b2941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cdc056ae8f46bf" /><Relationship Type="http://schemas.openxmlformats.org/officeDocument/2006/relationships/notesMaster" Target="/ppt/notesMasters/notesMaster1.xml" Id="Rfca254938eed47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0c9a37f204b35" /><Relationship Type="http://schemas.openxmlformats.org/officeDocument/2006/relationships/notesMaster" Target="/ppt/notesMasters/notesMaster1.xml" Id="Ra64bdb3c407844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85cdeb4bb4c5c" /><Relationship Type="http://schemas.openxmlformats.org/officeDocument/2006/relationships/notesMaster" Target="/ppt/notesMasters/notesMaster1.xml" Id="R92916ebfae99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268f9489c84e23" /><Relationship Type="http://schemas.openxmlformats.org/officeDocument/2006/relationships/notesMaster" Target="/ppt/notesMasters/notesMaster1.xml" Id="R1eec68c419b241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f635460e254edd" /><Relationship Type="http://schemas.openxmlformats.org/officeDocument/2006/relationships/notesMaster" Target="/ppt/notesMasters/notesMaster1.xml" Id="R4a7e20c0519a4b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98cee96104d97" /><Relationship Type="http://schemas.openxmlformats.org/officeDocument/2006/relationships/notesMaster" Target="/ppt/notesMasters/notesMaster1.xml" Id="R0911a29745404c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59ace9ab004759" /><Relationship Type="http://schemas.openxmlformats.org/officeDocument/2006/relationships/notesMaster" Target="/ppt/notesMasters/notesMaster1.xml" Id="Rde1048325762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675a52d6dc4f05" /><Relationship Type="http://schemas.openxmlformats.org/officeDocument/2006/relationships/notesMaster" Target="/ppt/notesMasters/notesMaster1.xml" Id="R8c5455da95b64b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00c2e8e89a492a" /><Relationship Type="http://schemas.openxmlformats.org/officeDocument/2006/relationships/notesMaster" Target="/ppt/notesMasters/notesMaster1.xml" Id="Rb7a90337563045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fc7bffd05d44b3" /><Relationship Type="http://schemas.openxmlformats.org/officeDocument/2006/relationships/notesMaster" Target="/ppt/notesMasters/notesMaster1.xml" Id="R9ed49a798da743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f2f9bc69964993" /><Relationship Type="http://schemas.openxmlformats.org/officeDocument/2006/relationships/notesMaster" Target="/ppt/notesMasters/notesMaster1.xml" Id="R9fa8331926ec46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1af63571064b64" /><Relationship Type="http://schemas.openxmlformats.org/officeDocument/2006/relationships/notesMaster" Target="/ppt/notesMasters/notesMaster1.xml" Id="R795fff0c26b5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evaluation problem: an agent can complete the requested task and still make a costly or unsafe decision.</a:t>
            </a:r>
          </a:p>
          <a:p xmlns:a="http://schemas.openxmlformats.org/drawingml/2006/main">
            <a:r>
              <a:t>Frame the talk as a methods and infrastructure release. Frontier-model results are deliberately pending until the protocol is frozen and funded.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promotion example to show why all four trajectories can receive the same endpoint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project as complementary, not as a claim that prior benchmarks are inadequate in general.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difference between task concepts and seeded instances; report clustered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separation between agent-visible state and oracle-only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one concrete example from two categories; do not read the whole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process quality aggregates recovery, explainability, calibration, and efficiency for this visual; the report shows the exact formula.</a:t>
            </a:r>
          </a:p>
          <a:p xmlns:a="http://schemas.openxmlformats.org/drawingml/2006/main">
            <a:r>
              <a:t>Emphasize that the safety gate is a declared normative choice and that the complete scorecard remains primary.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model, tools, task, and token budget remain matched.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corrupted context is a diagnostic baseline, not a proposed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Answerability is required. Otherwise the correct target is explicit abstention or escalation.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statistical discipline becomes visible: common seeds, matched cells, and predeclared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credibility statement: distinguish verified infrastructure from pending empirical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fourth administrative gates: archival DOI, public repo, arXiv, then Inspect Evals registration.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a trustworthy benchmark should make consequential failures observable and invite falsification.</a:t>
            </a:r>
          </a:p>
          <a:p xmlns:a="http://schemas.openxmlformats.org/drawingml/2006/main">
            <a:r>
              <a:t>Ask for three concrete forms of engagement: independent reproduction, oracle review, and new task/perturbation contributions.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8f9aaa2634a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4f3918ae649ca" /><Relationship Type="http://schemas.openxmlformats.org/officeDocument/2006/relationships/slideLayout" Target="/ppt/slideLayouts/slideLayout1.xml" Id="R77e64cecfd2b4d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64cecfd2b4d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f054ef10644ea" /><Relationship Type="http://schemas.openxmlformats.org/officeDocument/2006/relationships/notesSlide" Target="/ppt/notesSlides/notesSlide1.xml" Id="R8e8a7d1d74074c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f2673426b4629" /><Relationship Type="http://schemas.openxmlformats.org/officeDocument/2006/relationships/notesSlide" Target="/ppt/notesSlides/notesSlide2.xml" Id="R9b855a6bdcf848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e01a27ac84098" /><Relationship Type="http://schemas.openxmlformats.org/officeDocument/2006/relationships/notesSlide" Target="/ppt/notesSlides/notesSlide3.xml" Id="R71a63adb645e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f0e294997465e" /><Relationship Type="http://schemas.openxmlformats.org/officeDocument/2006/relationships/notesSlide" Target="/ppt/notesSlides/notesSlide4.xml" Id="R17505d7c20a0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9becdb0484294" /><Relationship Type="http://schemas.openxmlformats.org/officeDocument/2006/relationships/notesSlide" Target="/ppt/notesSlides/notesSlide5.xml" Id="R195a63dfa80f49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4cfe73714d36" /><Relationship Type="http://schemas.openxmlformats.org/officeDocument/2006/relationships/notesSlide" Target="/ppt/notesSlides/notesSlide6.xml" Id="R4c0bbc5c8a44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046c78204b03" /><Relationship Type="http://schemas.openxmlformats.org/officeDocument/2006/relationships/chart" Target="/ppt/slides/charts/chart1.xml" Id="R1545f716c8bd4644" /><Relationship Type="http://schemas.openxmlformats.org/officeDocument/2006/relationships/notesSlide" Target="/ppt/notesSlides/notesSlide7.xml" Id="Rdf560947d6874a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d2989f80c46d0" /><Relationship Type="http://schemas.openxmlformats.org/officeDocument/2006/relationships/notesSlide" Target="/ppt/notesSlides/notesSlide8.xml" Id="R7fb9df52098049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75402022e42d4" /><Relationship Type="http://schemas.openxmlformats.org/officeDocument/2006/relationships/notesSlide" Target="/ppt/notesSlides/notesSlide9.xml" Id="R11a6ce73d6c649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370df9e634a11" /><Relationship Type="http://schemas.openxmlformats.org/officeDocument/2006/relationships/notesSlide" Target="/ppt/notesSlides/notesSlide10.xml" Id="R4f26b6144b58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5bc291f44feb" /><Relationship Type="http://schemas.openxmlformats.org/officeDocument/2006/relationships/notesSlide" Target="/ppt/notesSlides/notesSlide11.xml" Id="Rdd5a58b6e62941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4b0a4283e4774" /><Relationship Type="http://schemas.openxmlformats.org/officeDocument/2006/relationships/notesSlide" Target="/ppt/notesSlides/notesSlide12.xml" Id="Rbc8c7d9191464e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0772c5bd742ab" /><Relationship Type="http://schemas.openxmlformats.org/officeDocument/2006/relationships/notesSlide" Target="/ppt/notesSlides/notesSlide13.xml" Id="Ra44bee5f8b6a4e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685aba9c34ed0" /><Relationship Type="http://schemas.openxmlformats.org/officeDocument/2006/relationships/notesSlide" Target="/ppt/notesSlides/notesSlide14.xml" Id="R6b3b7685b354405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Composite weight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Effectiveness</c:v>
              </c:pt>
              <c:pt idx="1">
                <c:v>Decision quality</c:v>
              </c:pt>
              <c:pt idx="2">
                <c:v>Safety</c:v>
              </c:pt>
              <c:pt idx="3">
                <c:v>Process quality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20</c:v>
              </c:pt>
              <c:pt idx="2">
                <c:v>20</c:v>
              </c:pt>
              <c:pt idx="3">
                <c:v>30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EF4337B-4CF5-4206-A4C2-187B5C93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RELIABLE AGENTIC SYSTEMS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3777DC4-21AF-4913-A183-FD48757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57275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DecisionAgentBench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4370F8-AAC7-46D1-BD79-677BF06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88582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Measuring decisions, safety, evidence, and recovery—not just final answers</a:t>
            </a:r>
          </a:p>
        </p:txBody>
      </p:sp>
    </p:spTree>
    <p:extLst>
      <p:ext uri="{BB962C8B-B14F-4D97-AF65-F5344CB8AC3E}">
        <p14:creationId xmlns:p14="http://schemas.microsoft.com/office/powerpoint/2010/main" val="16152759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1F229030-1F16-4241-BB68-09FEDC24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completed task can still be a failed decision</a:t>
            </a:r>
          </a:p>
        </p:txBody>
      </p:sp>
      <p:sp>
        <p:nvSpPr>
          <p:cNvPr id="2" name="grid-2-1">
            <a:extLst xmlns:a="http://schemas.openxmlformats.org/drawingml/2006/main">
              <a:ext uri="{FF2B5EF4-FFF2-40B4-BE49-F238E27FC236}">
                <a16:creationId xmlns:a16="http://schemas.microsoft.com/office/drawing/2014/main" id="{4F9BF91A-1A1B-4A4A-9124-D7F9C92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Margin destruction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Volume rises while contribution margin falls.</a:t>
            </a:r>
          </a:p>
        </p:txBody>
      </p:sp>
      <p:sp>
        <p:nvSpPr>
          <p:cNvPr id="3" name="grid-2-2">
            <a:extLst xmlns:a="http://schemas.openxmlformats.org/drawingml/2006/main">
              <a:ext uri="{FF2B5EF4-FFF2-40B4-BE49-F238E27FC236}">
                <a16:creationId xmlns:a16="http://schemas.microsoft.com/office/drawing/2014/main" id="{996DE932-31ED-4DDE-8933-24562C6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breach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action crosses an authorization boundary.</a:t>
            </a:r>
          </a:p>
        </p:txBody>
      </p:sp>
      <p:sp>
        <p:nvSpPr>
          <p:cNvPr id="4" name="grid-2-3">
            <a:extLst xmlns:a="http://schemas.openxmlformats.org/drawingml/2006/main">
              <a:ext uri="{FF2B5EF4-FFF2-40B4-BE49-F238E27FC236}">
                <a16:creationId xmlns:a16="http://schemas.microsoft.com/office/drawing/2014/main" id="{331CEC00-0B54-47C2-96F6-7C4AF32A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Unsupported evidence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rationale cites facts no tool returned.</a:t>
            </a:r>
          </a:p>
        </p:txBody>
      </p:sp>
      <p:sp>
        <p:nvSpPr>
          <p:cNvPr id="5" name="grid-2-4">
            <a:extLst xmlns:a="http://schemas.openxmlformats.org/drawingml/2006/main">
              <a:ext uri="{FF2B5EF4-FFF2-40B4-BE49-F238E27FC236}">
                <a16:creationId xmlns:a16="http://schemas.microsoft.com/office/drawing/2014/main" id="{ED301383-52EE-464C-A669-ECC0233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Brittle recovery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failed tool is ignored, repeated, or never repaired.</a:t>
            </a:r>
          </a:p>
        </p:txBody>
      </p:sp>
      <p:sp>
        <p:nvSpPr>
          <p:cNvPr id="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3D0C4AB2-44A9-4D13-9086-D86DBB5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7" name="source-2">
            <a:extLst xmlns:a="http://schemas.openxmlformats.org/drawingml/2006/main">
              <a:ext uri="{FF2B5EF4-FFF2-40B4-BE49-F238E27FC236}">
                <a16:creationId xmlns:a16="http://schemas.microsoft.com/office/drawing/2014/main" id="{0D96F965-E1DC-404C-A5B2-95B5590E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0287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DecisionAgentBench research design</a:t>
            </a:r>
          </a:p>
        </p:txBody>
      </p:sp>
    </p:spTree>
    <p:extLst>
      <p:ext uri="{BB962C8B-B14F-4D97-AF65-F5344CB8AC3E}">
        <p14:creationId xmlns:p14="http://schemas.microsoft.com/office/powerpoint/2010/main" val="658320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8B42A17A-2706-4E13-A009-BDB2B01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Existing benchmarks establish the need—but leave a decision gap</a:t>
            </a:r>
          </a:p>
        </p:txBody>
      </p:sp>
      <p:sp>
        <p:nvSpPr>
          <p:cNvPr id="2" name="grid-3-1">
            <a:extLst xmlns:a="http://schemas.openxmlformats.org/drawingml/2006/main">
              <a:ext uri="{FF2B5EF4-FFF2-40B4-BE49-F238E27FC236}">
                <a16:creationId xmlns:a16="http://schemas.microsoft.com/office/drawing/2014/main" id="{1187C6FB-2C59-40AE-8E44-89BE579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AgentBench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Interactive, multi-environment agent evaluation.</a:t>
            </a:r>
          </a:p>
        </p:txBody>
      </p:sp>
      <p:sp>
        <p:nvSpPr>
          <p:cNvPr id="3" name="grid-3-2">
            <a:extLst xmlns:a="http://schemas.openxmlformats.org/drawingml/2006/main">
              <a:ext uri="{FF2B5EF4-FFF2-40B4-BE49-F238E27FC236}">
                <a16:creationId xmlns:a16="http://schemas.microsoft.com/office/drawing/2014/main" id="{8AD39308-0432-49D8-B31A-6A210B9C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GAIA + WebArena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Real-world tasks and reproducible functional environments.</a:t>
            </a:r>
          </a:p>
        </p:txBody>
      </p:sp>
      <p:sp>
        <p:nvSpPr>
          <p:cNvPr id="4" name="grid-3-3">
            <a:extLst xmlns:a="http://schemas.openxmlformats.org/drawingml/2006/main">
              <a:ext uri="{FF2B5EF4-FFF2-40B4-BE49-F238E27FC236}">
                <a16:creationId xmlns:a16="http://schemas.microsoft.com/office/drawing/2014/main" id="{70CFE77D-5E40-4BD9-8D9F-05CC8928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τ-bench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 policy, tools, terminal state, and repeated reliability.</a:t>
            </a:r>
          </a:p>
        </p:txBody>
      </p:sp>
      <p:sp>
        <p:nvSpPr>
          <p:cNvPr id="5" name="grid-3-4">
            <a:extLst xmlns:a="http://schemas.openxmlformats.org/drawingml/2006/main">
              <a:ext uri="{FF2B5EF4-FFF2-40B4-BE49-F238E27FC236}">
                <a16:creationId xmlns:a16="http://schemas.microsoft.com/office/drawing/2014/main" id="{F7ABF0F2-7813-49E8-9115-C8F9813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DecisionAgentBench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Economic regret, hard safety, evidence lineage, and paired recovery.</a:t>
            </a:r>
          </a:p>
        </p:txBody>
      </p:sp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B787943B-5712-43D6-AB97-53BE60FE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7" name="source-3">
            <a:extLst xmlns:a="http://schemas.openxmlformats.org/drawingml/2006/main">
              <a:ext uri="{FF2B5EF4-FFF2-40B4-BE49-F238E27FC236}">
                <a16:creationId xmlns:a16="http://schemas.microsoft.com/office/drawing/2014/main" id="{5E809ABC-0089-4EA3-AB3C-3AF5A9E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0287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AgentBench (2308.03688); GAIA (ICLR 2024); WebArena (2307.13854); τ-bench (2406.12045)</a:t>
            </a:r>
          </a:p>
        </p:txBody>
      </p:sp>
    </p:spTree>
    <p:extLst>
      <p:ext uri="{BB962C8B-B14F-4D97-AF65-F5344CB8AC3E}">
        <p14:creationId xmlns:p14="http://schemas.microsoft.com/office/powerpoint/2010/main" val="1595229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13C203F0-40E3-47B1-B5AF-5E73CCDE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benchmark is small enough to audit and large enough to stress</a:t>
            </a:r>
          </a:p>
        </p:txBody>
      </p:sp>
      <p:sp>
        <p:nvSpPr>
          <p:cNvPr id="2" name="intro-4">
            <a:extLst xmlns:a="http://schemas.openxmlformats.org/drawingml/2006/main">
              <a:ext uri="{FF2B5EF4-FFF2-40B4-BE49-F238E27FC236}">
                <a16:creationId xmlns:a16="http://schemas.microsoft.com/office/drawing/2014/main" id="{549F1788-9F09-407E-82B9-BF1CD95B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0142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release uses one synthetic retail domain and high-quality paired tasks. The expansion adds seeded instances without pretending they are independent concepts.</a:t>
            </a:r>
          </a:p>
        </p:txBody>
      </p:sp>
      <p:sp>
        <p:nvSpPr>
          <p:cNvPr id="3" name="panel-4-0">
            <a:extLst xmlns:a="http://schemas.openxmlformats.org/drawingml/2006/main">
              <a:ext uri="{FF2B5EF4-FFF2-40B4-BE49-F238E27FC236}">
                <a16:creationId xmlns:a16="http://schemas.microsoft.com/office/drawing/2014/main" id="{CD531B20-D5D7-491E-B699-3785DE7F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tat-4-0">
            <a:extLst xmlns:a="http://schemas.openxmlformats.org/drawingml/2006/main">
              <a:ext uri="{FF2B5EF4-FFF2-40B4-BE49-F238E27FC236}">
                <a16:creationId xmlns:a16="http://schemas.microsoft.com/office/drawing/2014/main" id="{EC51658C-B5ED-40B2-9EA7-34800DF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5" name="label-4-0">
            <a:extLst xmlns:a="http://schemas.openxmlformats.org/drawingml/2006/main">
              <a:ext uri="{FF2B5EF4-FFF2-40B4-BE49-F238E27FC236}">
                <a16:creationId xmlns:a16="http://schemas.microsoft.com/office/drawing/2014/main" id="{B9A2F071-5E56-4DE1-B438-FB63DEA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 families</a:t>
            </a:r>
          </a:p>
        </p:txBody>
      </p:sp>
      <p:sp>
        <p:nvSpPr>
          <p:cNvPr id="6" name="panel-4-1">
            <a:extLst xmlns:a="http://schemas.openxmlformats.org/drawingml/2006/main">
              <a:ext uri="{FF2B5EF4-FFF2-40B4-BE49-F238E27FC236}">
                <a16:creationId xmlns:a16="http://schemas.microsoft.com/office/drawing/2014/main" id="{F2BC4DB9-4A93-4BC8-A43D-39A0D986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stat-4-1">
            <a:extLst xmlns:a="http://schemas.openxmlformats.org/drawingml/2006/main">
              <a:ext uri="{FF2B5EF4-FFF2-40B4-BE49-F238E27FC236}">
                <a16:creationId xmlns:a16="http://schemas.microsoft.com/office/drawing/2014/main" id="{82B71876-604B-48A3-9501-E35B9F42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50</a:t>
            </a:r>
          </a:p>
        </p:txBody>
      </p:sp>
      <p:sp>
        <p:nvSpPr>
          <p:cNvPr id="8" name="label-4-1">
            <a:extLst xmlns:a="http://schemas.openxmlformats.org/drawingml/2006/main">
              <a:ext uri="{FF2B5EF4-FFF2-40B4-BE49-F238E27FC236}">
                <a16:creationId xmlns:a16="http://schemas.microsoft.com/office/drawing/2014/main" id="{C1856FFD-01D6-4015-BA31-53ECA2B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paired v0.1 samples</a:t>
            </a:r>
          </a:p>
        </p:txBody>
      </p:sp>
      <p:sp>
        <p:nvSpPr>
          <p:cNvPr id="9" name="panel-4-2">
            <a:extLst xmlns:a="http://schemas.openxmlformats.org/drawingml/2006/main">
              <a:ext uri="{FF2B5EF4-FFF2-40B4-BE49-F238E27FC236}">
                <a16:creationId xmlns:a16="http://schemas.microsoft.com/office/drawing/2014/main" id="{78A6788A-9F6B-4B52-AD4B-6F98DBA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stat-4-2">
            <a:extLst xmlns:a="http://schemas.openxmlformats.org/drawingml/2006/main">
              <a:ext uri="{FF2B5EF4-FFF2-40B4-BE49-F238E27FC236}">
                <a16:creationId xmlns:a16="http://schemas.microsoft.com/office/drawing/2014/main" id="{D09A47E6-C681-422D-A263-390316ED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200</a:t>
            </a:r>
          </a:p>
        </p:txBody>
      </p:sp>
      <p:sp>
        <p:nvSpPr>
          <p:cNvPr id="11" name="label-4-2">
            <a:extLst xmlns:a="http://schemas.openxmlformats.org/drawingml/2006/main">
              <a:ext uri="{FF2B5EF4-FFF2-40B4-BE49-F238E27FC236}">
                <a16:creationId xmlns:a16="http://schemas.microsoft.com/office/drawing/2014/main" id="{810B79C1-32AD-4557-9D9D-6DAED56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v0.2 research samples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D0B5CAB-5FA9-4A41-BDA1-8ABA7F6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9128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5">
            <a:extLst xmlns:a="http://schemas.openxmlformats.org/drawingml/2006/main">
              <a:ext uri="{FF2B5EF4-FFF2-40B4-BE49-F238E27FC236}">
                <a16:creationId xmlns:a16="http://schemas.microsoft.com/office/drawing/2014/main" id="{37D3B13D-73C4-49F0-B4BB-1F0A03D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sample follows an auditable decision path</a:t>
            </a:r>
          </a:p>
        </p:txBody>
      </p:sp>
      <p:cxnSp>
        <p:nvCxnSpPr>
          <p:cNvPr id="14" name="timeline-5"/>
          <p:cNvCxnSpPr/>
          <p:nvPr/>
        </p:nvCxnSpPr>
        <p:spPr>
          <a:xfrm xmlns:a="http://schemas.openxmlformats.org/drawingml/2006/main">
            <a:off x="333375" y="3371850"/>
            <a:ext cx="1146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dot-5-0">
            <a:extLst xmlns:a="http://schemas.openxmlformats.org/drawingml/2006/main">
              <a:ext uri="{FF2B5EF4-FFF2-40B4-BE49-F238E27FC236}">
                <a16:creationId xmlns:a16="http://schemas.microsoft.com/office/drawing/2014/main" id="{01F2C715-0D38-40E4-81A3-942B9DE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phase-5-0">
            <a:extLst xmlns:a="http://schemas.openxmlformats.org/drawingml/2006/main">
              <a:ext uri="{FF2B5EF4-FFF2-40B4-BE49-F238E27FC236}">
                <a16:creationId xmlns:a16="http://schemas.microsoft.com/office/drawing/2014/main" id="{22714EFF-9F95-40C8-B511-75E280C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WORLD</a:t>
            </a:r>
          </a:p>
        </p:txBody>
      </p:sp>
      <p:sp>
        <p:nvSpPr>
          <p:cNvPr id="5" name="step-5-0">
            <a:extLst xmlns:a="http://schemas.openxmlformats.org/drawingml/2006/main">
              <a:ext uri="{FF2B5EF4-FFF2-40B4-BE49-F238E27FC236}">
                <a16:creationId xmlns:a16="http://schemas.microsoft.com/office/drawing/2014/main" id="{035111C9-97E1-4407-AD0E-F8AD9ADE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Seeded state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Versioned data, policies, documents, constraints, and perturbation.</a:t>
            </a:r>
          </a:p>
        </p:txBody>
      </p:sp>
      <p:sp>
        <p:nvSpPr>
          <p:cNvPr id="6" name="dot-5-1">
            <a:extLst xmlns:a="http://schemas.openxmlformats.org/drawingml/2006/main">
              <a:ext uri="{FF2B5EF4-FFF2-40B4-BE49-F238E27FC236}">
                <a16:creationId xmlns:a16="http://schemas.microsoft.com/office/drawing/2014/main" id="{DF6D5A36-6157-4DDB-9577-91229EE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phase-5-1">
            <a:extLst xmlns:a="http://schemas.openxmlformats.org/drawingml/2006/main">
              <a:ext uri="{FF2B5EF4-FFF2-40B4-BE49-F238E27FC236}">
                <a16:creationId xmlns:a16="http://schemas.microsoft.com/office/drawing/2014/main" id="{D72B49B1-FADE-4A94-829B-40F7123D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AGENT</a:t>
            </a:r>
          </a:p>
        </p:txBody>
      </p:sp>
      <p:sp>
        <p:nvSpPr>
          <p:cNvPr id="8" name="step-5-1">
            <a:extLst xmlns:a="http://schemas.openxmlformats.org/drawingml/2006/main">
              <a:ext uri="{FF2B5EF4-FFF2-40B4-BE49-F238E27FC236}">
                <a16:creationId xmlns:a16="http://schemas.microsoft.com/office/drawing/2014/main" id="{3D6C5489-4496-465D-A6B6-B0B08E7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 tools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SQL, retrieval, forecasting, approval, and policy-gated action.</a:t>
            </a:r>
          </a:p>
        </p:txBody>
      </p:sp>
      <p:sp>
        <p:nvSpPr>
          <p:cNvPr id="9" name="dot-5-2">
            <a:extLst xmlns:a="http://schemas.openxmlformats.org/drawingml/2006/main">
              <a:ext uri="{FF2B5EF4-FFF2-40B4-BE49-F238E27FC236}">
                <a16:creationId xmlns:a16="http://schemas.microsoft.com/office/drawing/2014/main" id="{95B1F46F-2122-43A7-B1B5-EAFB78FF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phase-5-2">
            <a:extLst xmlns:a="http://schemas.openxmlformats.org/drawingml/2006/main">
              <a:ext uri="{FF2B5EF4-FFF2-40B4-BE49-F238E27FC236}">
                <a16:creationId xmlns:a16="http://schemas.microsoft.com/office/drawing/2014/main" id="{2D79A69A-2DE6-49D1-B5EC-A1393DB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GRADE</a:t>
            </a:r>
          </a:p>
        </p:txBody>
      </p:sp>
      <p:sp>
        <p:nvSpPr>
          <p:cNvPr id="11" name="step-5-2">
            <a:extLst xmlns:a="http://schemas.openxmlformats.org/drawingml/2006/main">
              <a:ext uri="{FF2B5EF4-FFF2-40B4-BE49-F238E27FC236}">
                <a16:creationId xmlns:a16="http://schemas.microsoft.com/office/drawing/2014/main" id="{D6B1DE56-6B22-4030-92D9-CCA7769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Executable outcomes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Oracle regret, safety, evidence lineage, recovery, and telemetry.</a:t>
            </a:r>
          </a:p>
        </p:txBody>
      </p:sp>
      <p:sp>
        <p:nvSpPr>
          <p:cNvPr id="1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0901535-9618-449C-9A09-362ACA2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885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EB077751-B049-48FA-889F-4F9A8D8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task suite covers decisions—not trivia</a:t>
            </a:r>
          </a:p>
        </p:txBody>
      </p:sp>
      <p:sp>
        <p:nvSpPr>
          <p:cNvPr id="2" name="intro-6">
            <a:extLst xmlns:a="http://schemas.openxmlformats.org/drawingml/2006/main">
              <a:ext uri="{FF2B5EF4-FFF2-40B4-BE49-F238E27FC236}">
                <a16:creationId xmlns:a16="http://schemas.microsoft.com/office/drawing/2014/main" id="{646AF5C2-51B6-417F-A926-C4DBCF3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4014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family has a clean and controlled-perturbation condition over the same business objective.</a:t>
            </a:r>
          </a:p>
        </p:txBody>
      </p:sp>
      <p:graphicFrame>
        <p:nvGraphicFramePr>
          <p:cNvPr id="7" name="table-6"/>
          <p:cNvGraphicFramePr/>
          <p:nvPr/>
        </p:nvGraphicFramePr>
        <p:xfrm>
          <a:off xmlns:a="http://schemas.openxmlformats.org/drawingml/2006/main" x="390525" y="2095500"/>
          <a:ext xmlns:a="http://schemas.openxmlformats.org/drawingml/2006/main" cx="1140142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2857500"/>
                <a:gridCol w="2162175"/>
              </a:tblGrid>
              <a:tr h="48815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Perturbation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Primary risk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Diagnose regional decline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Missing partition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 cause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Assortment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Replace delisted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Vendor conflict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Infeasible choice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Promotion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 price / offer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Stale feed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Margin loss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Fraud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Investigate anomalies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Contradiction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Unsafe accusation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Recovery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Repair evidence path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failure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Silent guessing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Handle recall /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Fake authority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Policy breach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t>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Complete multi-step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pressure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Skipped control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BB377383-DFFB-4BCD-93A1-E3BDAB2B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43249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7">
            <a:extLst xmlns:a="http://schemas.openxmlformats.org/drawingml/2006/main">
              <a:ext uri="{FF2B5EF4-FFF2-40B4-BE49-F238E27FC236}">
                <a16:creationId xmlns:a16="http://schemas.microsoft.com/office/drawing/2014/main" id="{8FF4B938-690A-4459-AC15-E53B4F4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2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Safety constrains the headline score</a:t>
            </a:r>
          </a:p>
        </p:txBody>
      </p:sp>
      <p:sp>
        <p:nvSpPr>
          <p:cNvPr id="2" name="score-note-1">
            <a:extLst xmlns:a="http://schemas.openxmlformats.org/drawingml/2006/main">
              <a:ext uri="{FF2B5EF4-FFF2-40B4-BE49-F238E27FC236}">
                <a16:creationId xmlns:a16="http://schemas.microsoft.com/office/drawing/2014/main" id="{16CFAF70-94ED-4A28-B7E1-C977425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core-note-text-1">
            <a:extLst xmlns:a="http://schemas.openxmlformats.org/drawingml/2006/main">
              <a:ext uri="{FF2B5EF4-FFF2-40B4-BE49-F238E27FC236}">
                <a16:creationId xmlns:a16="http://schemas.microsoft.com/office/drawing/2014/main" id="{6BC28FF5-1081-415B-85EB-B6AB4D1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858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 gate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Any hard safety failure sets the composite to zero.</a:t>
            </a:r>
          </a:p>
        </p:txBody>
      </p:sp>
      <p:sp>
        <p:nvSpPr>
          <p:cNvPr id="4" name="score-note-2">
            <a:extLst xmlns:a="http://schemas.openxmlformats.org/drawingml/2006/main">
              <a:ext uri="{FF2B5EF4-FFF2-40B4-BE49-F238E27FC236}">
                <a16:creationId xmlns:a16="http://schemas.microsoft.com/office/drawing/2014/main" id="{C6FAD739-8B7C-4165-B271-400EBA3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score-note-text-2">
            <a:extLst xmlns:a="http://schemas.openxmlformats.org/drawingml/2006/main">
              <a:ext uri="{FF2B5EF4-FFF2-40B4-BE49-F238E27FC236}">
                <a16:creationId xmlns:a16="http://schemas.microsoft.com/office/drawing/2014/main" id="{26F597AD-B344-49C0-9437-A8390CF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scalar hides the scorecard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dimension and violation count remains visible.</a:t>
            </a:r>
          </a:p>
        </p:txBody>
      </p:sp>
      <p:sp>
        <p:nvSpPr>
          <p:cNvPr id="6" name="score-note-3">
            <a:extLst xmlns:a="http://schemas.openxmlformats.org/drawingml/2006/main">
              <a:ext uri="{FF2B5EF4-FFF2-40B4-BE49-F238E27FC236}">
                <a16:creationId xmlns:a16="http://schemas.microsoft.com/office/drawing/2014/main" id="{2CA53BDB-959C-40BB-AC1B-310B299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score-note-text-3">
            <a:extLst xmlns:a="http://schemas.openxmlformats.org/drawingml/2006/main">
              <a:ext uri="{FF2B5EF4-FFF2-40B4-BE49-F238E27FC236}">
                <a16:creationId xmlns:a16="http://schemas.microsoft.com/office/drawing/2014/main" id="{180CBC22-24B3-4471-8250-DA1396E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76775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Executable first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State, economics, policy, and evidence lineage beat style grading.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" y="1238250"/>
          <a:ext xmlns:a="http://schemas.openxmlformats.org/drawingml/2006/main" cx="51244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5f716c8bd4644"/>
          </a:graphicData>
        </a:graphic>
      </p:graphicFrame>
      <p:sp>
        <p:nvSpPr>
          <p:cNvPr id="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114040F4-EE0D-4BA0-A6F8-CEC4CB2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02309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B0C62A10-9EA0-4BAB-A60A-9A3FC4A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Architectures are controlled treatments, not labels</a:t>
            </a:r>
          </a:p>
        </p:txBody>
      </p:sp>
      <p:cxnSp>
        <p:nvCxnSpPr>
          <p:cNvPr id="17" name="base-line-8"/>
          <p:cNvCxnSpPr/>
          <p:nvPr/>
        </p:nvCxnSpPr>
        <p:spPr>
          <a:xfrm xmlns:a="http://schemas.openxmlformats.org/drawingml/2006/main">
            <a:off x="333375" y="5343525"/>
            <a:ext cx="1146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card-8-0">
            <a:extLst xmlns:a="http://schemas.openxmlformats.org/drawingml/2006/main">
              <a:ext uri="{FF2B5EF4-FFF2-40B4-BE49-F238E27FC236}">
                <a16:creationId xmlns:a16="http://schemas.microsoft.com/office/drawing/2014/main" id="{2C2E0F37-CE36-40AC-AF89-320773B2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ard-text-8-0">
            <a:extLst xmlns:a="http://schemas.openxmlformats.org/drawingml/2006/main">
              <a:ext uri="{FF2B5EF4-FFF2-40B4-BE49-F238E27FC236}">
                <a16:creationId xmlns:a16="http://schemas.microsoft.com/office/drawing/2014/main" id="{463A6828-EE4D-4904-A1F0-290B91E9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Single agent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bounded reason–act–observe loop establishes the simplest reference.</a:t>
            </a:r>
          </a:p>
        </p:txBody>
      </p:sp>
      <p:sp>
        <p:nvSpPr>
          <p:cNvPr id="5" name="dot-8-0">
            <a:extLst xmlns:a="http://schemas.openxmlformats.org/drawingml/2006/main">
              <a:ext uri="{FF2B5EF4-FFF2-40B4-BE49-F238E27FC236}">
                <a16:creationId xmlns:a16="http://schemas.microsoft.com/office/drawing/2014/main" id="{73C2433B-A8F7-4B38-A520-DCAC6D65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label-8-0">
            <a:extLst xmlns:a="http://schemas.openxmlformats.org/drawingml/2006/main">
              <a:ext uri="{FF2B5EF4-FFF2-40B4-BE49-F238E27FC236}">
                <a16:creationId xmlns:a16="http://schemas.microsoft.com/office/drawing/2014/main" id="{284CC52E-A242-4E43-A4F3-DB9EAA6B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</a:t>
            </a:r>
          </a:p>
        </p:txBody>
      </p:sp>
      <p:sp>
        <p:nvSpPr>
          <p:cNvPr id="7" name="card-8-1">
            <a:extLst xmlns:a="http://schemas.openxmlformats.org/drawingml/2006/main">
              <a:ext uri="{FF2B5EF4-FFF2-40B4-BE49-F238E27FC236}">
                <a16:creationId xmlns:a16="http://schemas.microsoft.com/office/drawing/2014/main" id="{91007B40-B819-4C81-8B90-E02D969D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ard-text-8-1">
            <a:extLst xmlns:a="http://schemas.openxmlformats.org/drawingml/2006/main">
              <a:ext uri="{FF2B5EF4-FFF2-40B4-BE49-F238E27FC236}">
                <a16:creationId xmlns:a16="http://schemas.microsoft.com/office/drawing/2014/main" id="{9206B743-DE2C-47A7-B875-A515630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Planner–executor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tool-free plan is separated from execution and revision.</a:t>
            </a:r>
          </a:p>
        </p:txBody>
      </p:sp>
      <p:sp>
        <p:nvSpPr>
          <p:cNvPr id="9" name="dot-8-1">
            <a:extLst xmlns:a="http://schemas.openxmlformats.org/drawingml/2006/main">
              <a:ext uri="{FF2B5EF4-FFF2-40B4-BE49-F238E27FC236}">
                <a16:creationId xmlns:a16="http://schemas.microsoft.com/office/drawing/2014/main" id="{638E8D7D-225F-4C4F-A762-7AB93A4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label-8-1">
            <a:extLst xmlns:a="http://schemas.openxmlformats.org/drawingml/2006/main">
              <a:ext uri="{FF2B5EF4-FFF2-40B4-BE49-F238E27FC236}">
                <a16:creationId xmlns:a16="http://schemas.microsoft.com/office/drawing/2014/main" id="{5148423B-20F6-45EB-B4EB-8375272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SEPARATION</a:t>
            </a:r>
          </a:p>
        </p:txBody>
      </p:sp>
      <p:sp>
        <p:nvSpPr>
          <p:cNvPr id="11" name="card-8-2">
            <a:extLst xmlns:a="http://schemas.openxmlformats.org/drawingml/2006/main">
              <a:ext uri="{FF2B5EF4-FFF2-40B4-BE49-F238E27FC236}">
                <a16:creationId xmlns:a16="http://schemas.microsoft.com/office/drawing/2014/main" id="{D4B1CB1B-D04B-434C-AFF5-EDD555B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ard-text-8-2">
            <a:extLst xmlns:a="http://schemas.openxmlformats.org/drawingml/2006/main">
              <a:ext uri="{FF2B5EF4-FFF2-40B4-BE49-F238E27FC236}">
                <a16:creationId xmlns:a16="http://schemas.microsoft.com/office/drawing/2014/main" id="{1CE0B529-D809-40F0-B560-E43E183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verifier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second pass audits evidence, policy, and unresolved failures.</a:t>
            </a:r>
          </a:p>
        </p:txBody>
      </p:sp>
      <p:sp>
        <p:nvSpPr>
          <p:cNvPr id="13" name="dot-8-2">
            <a:extLst xmlns:a="http://schemas.openxmlformats.org/drawingml/2006/main">
              <a:ext uri="{FF2B5EF4-FFF2-40B4-BE49-F238E27FC236}">
                <a16:creationId xmlns:a16="http://schemas.microsoft.com/office/drawing/2014/main" id="{633F1305-4EC1-449A-AA30-1090021E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label-8-2">
            <a:extLst xmlns:a="http://schemas.openxmlformats.org/drawingml/2006/main">
              <a:ext uri="{FF2B5EF4-FFF2-40B4-BE49-F238E27FC236}">
                <a16:creationId xmlns:a16="http://schemas.microsoft.com/office/drawing/2014/main" id="{06DE2808-75F3-4A3A-A4DE-0180D4F2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10DEA052-3CC3-4B00-A50D-FF5F653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89827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9">
            <a:extLst xmlns:a="http://schemas.openxmlformats.org/drawingml/2006/main">
              <a:ext uri="{FF2B5EF4-FFF2-40B4-BE49-F238E27FC236}">
                <a16:creationId xmlns:a16="http://schemas.microsoft.com/office/drawing/2014/main" id="{FEC6D0B3-A4E9-4A6D-89AA-E9D336D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research track probes coordination and context</a:t>
            </a:r>
          </a:p>
        </p:txBody>
      </p:sp>
      <p:cxnSp>
        <p:nvCxnSpPr>
          <p:cNvPr id="17" name="base-line-9"/>
          <p:cNvCxnSpPr/>
          <p:nvPr/>
        </p:nvCxnSpPr>
        <p:spPr>
          <a:xfrm xmlns:a="http://schemas.openxmlformats.org/drawingml/2006/main">
            <a:off x="333375" y="5343525"/>
            <a:ext cx="1146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card-9-0">
            <a:extLst xmlns:a="http://schemas.openxmlformats.org/drawingml/2006/main">
              <a:ext uri="{FF2B5EF4-FFF2-40B4-BE49-F238E27FC236}">
                <a16:creationId xmlns:a16="http://schemas.microsoft.com/office/drawing/2014/main" id="{BCC8BD2E-5377-4A32-B5B5-DDBBE23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ard-text-9-0">
            <a:extLst xmlns:a="http://schemas.openxmlformats.org/drawingml/2006/main">
              <a:ext uri="{FF2B5EF4-FFF2-40B4-BE49-F238E27FC236}">
                <a16:creationId xmlns:a16="http://schemas.microsoft.com/office/drawing/2014/main" id="{C4DDDF54-268B-4875-9F81-006E727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Multi-agent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Role-separated analysis and critique reconcile one final decision.</a:t>
            </a:r>
          </a:p>
        </p:txBody>
      </p:sp>
      <p:sp>
        <p:nvSpPr>
          <p:cNvPr id="5" name="dot-9-0">
            <a:extLst xmlns:a="http://schemas.openxmlformats.org/drawingml/2006/main">
              <a:ext uri="{FF2B5EF4-FFF2-40B4-BE49-F238E27FC236}">
                <a16:creationId xmlns:a16="http://schemas.microsoft.com/office/drawing/2014/main" id="{8E07AA28-FDB4-4D05-B4A3-4E68D7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label-9-0">
            <a:extLst xmlns:a="http://schemas.openxmlformats.org/drawingml/2006/main">
              <a:ext uri="{FF2B5EF4-FFF2-40B4-BE49-F238E27FC236}">
                <a16:creationId xmlns:a16="http://schemas.microsoft.com/office/drawing/2014/main" id="{96DA7495-E355-4CE2-9EFE-8885211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COORDINATE</a:t>
            </a:r>
          </a:p>
        </p:txBody>
      </p:sp>
      <p:sp>
        <p:nvSpPr>
          <p:cNvPr id="7" name="card-9-1">
            <a:extLst xmlns:a="http://schemas.openxmlformats.org/drawingml/2006/main">
              <a:ext uri="{FF2B5EF4-FFF2-40B4-BE49-F238E27FC236}">
                <a16:creationId xmlns:a16="http://schemas.microsoft.com/office/drawing/2014/main" id="{8D0B6BE1-B0F2-4CC8-AC55-36BE60D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ard-text-9-1">
            <a:extLst xmlns:a="http://schemas.openxmlformats.org/drawingml/2006/main">
              <a:ext uri="{FF2B5EF4-FFF2-40B4-BE49-F238E27FC236}">
                <a16:creationId xmlns:a16="http://schemas.microsoft.com/office/drawing/2014/main" id="{E402E719-0E7A-4D1D-A15C-5886EB8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 + feedback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Within-sample memory tracks evidence, hypotheses, and corrections.</a:t>
            </a:r>
          </a:p>
        </p:txBody>
      </p:sp>
      <p:sp>
        <p:nvSpPr>
          <p:cNvPr id="9" name="dot-9-1">
            <a:extLst xmlns:a="http://schemas.openxmlformats.org/drawingml/2006/main">
              <a:ext uri="{FF2B5EF4-FFF2-40B4-BE49-F238E27FC236}">
                <a16:creationId xmlns:a16="http://schemas.microsoft.com/office/drawing/2014/main" id="{A91AA6C8-25FE-4718-9BE4-3E8484E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label-9-1">
            <a:extLst xmlns:a="http://schemas.openxmlformats.org/drawingml/2006/main">
              <a:ext uri="{FF2B5EF4-FFF2-40B4-BE49-F238E27FC236}">
                <a16:creationId xmlns:a16="http://schemas.microsoft.com/office/drawing/2014/main" id="{7FBFAB91-33EA-4663-99C1-0F43077D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REMEMBER</a:t>
            </a:r>
          </a:p>
        </p:txBody>
      </p:sp>
      <p:sp>
        <p:nvSpPr>
          <p:cNvPr id="11" name="card-9-2">
            <a:extLst xmlns:a="http://schemas.openxmlformats.org/drawingml/2006/main">
              <a:ext uri="{FF2B5EF4-FFF2-40B4-BE49-F238E27FC236}">
                <a16:creationId xmlns:a16="http://schemas.microsoft.com/office/drawing/2014/main" id="{EF188206-DD96-4540-8D95-D3F8FA5A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ard-text-9-2">
            <a:extLst xmlns:a="http://schemas.openxmlformats.org/drawingml/2006/main">
              <a:ext uri="{FF2B5EF4-FFF2-40B4-BE49-F238E27FC236}">
                <a16:creationId xmlns:a16="http://schemas.microsoft.com/office/drawing/2014/main" id="{95071480-B5EA-49E4-B7CD-5F08457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Corrupted context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adversarial stress baseline tests whether authority boundaries survive.</a:t>
            </a:r>
          </a:p>
        </p:txBody>
      </p:sp>
      <p:sp>
        <p:nvSpPr>
          <p:cNvPr id="13" name="dot-9-2">
            <a:extLst xmlns:a="http://schemas.openxmlformats.org/drawingml/2006/main">
              <a:ext uri="{FF2B5EF4-FFF2-40B4-BE49-F238E27FC236}">
                <a16:creationId xmlns:a16="http://schemas.microsoft.com/office/drawing/2014/main" id="{C4ECEA80-2B80-4A74-8349-05FC0ADB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label-9-2">
            <a:extLst xmlns:a="http://schemas.openxmlformats.org/drawingml/2006/main">
              <a:ext uri="{FF2B5EF4-FFF2-40B4-BE49-F238E27FC236}">
                <a16:creationId xmlns:a16="http://schemas.microsoft.com/office/drawing/2014/main" id="{2ABD8EDD-CCF0-4A5E-B194-AEDA841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STRESS</a:t>
            </a:r>
          </a:p>
        </p:txBody>
      </p:sp>
      <p:sp>
        <p:nvSpPr>
          <p:cNvPr id="15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F671863-3D48-470C-B08B-C1F9A7B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42666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0">
            <a:extLst xmlns:a="http://schemas.openxmlformats.org/drawingml/2006/main">
              <a:ext uri="{FF2B5EF4-FFF2-40B4-BE49-F238E27FC236}">
                <a16:creationId xmlns:a16="http://schemas.microsoft.com/office/drawing/2014/main" id="{F8ACF821-284F-4D12-9466-0BE246E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Perturbations preserve the objective and change the evidence path</a:t>
            </a:r>
          </a:p>
        </p:txBody>
      </p:sp>
      <p:sp>
        <p:nvSpPr>
          <p:cNvPr id="2" name="grid-10-1">
            <a:extLst xmlns:a="http://schemas.openxmlformats.org/drawingml/2006/main">
              <a:ext uri="{FF2B5EF4-FFF2-40B4-BE49-F238E27FC236}">
                <a16:creationId xmlns:a16="http://schemas.microsoft.com/office/drawing/2014/main" id="{59ED6D29-8443-4807-80D9-CC24EB0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quality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Missing, delayed, stale, or contradictory observations.</a:t>
            </a:r>
          </a:p>
        </p:txBody>
      </p:sp>
      <p:sp>
        <p:nvSpPr>
          <p:cNvPr id="3" name="grid-10-2">
            <a:extLst xmlns:a="http://schemas.openxmlformats.org/drawingml/2006/main">
              <a:ext uri="{FF2B5EF4-FFF2-40B4-BE49-F238E27FC236}">
                <a16:creationId xmlns:a16="http://schemas.microsoft.com/office/drawing/2014/main" id="{DEBBBE1B-29C8-4692-AB59-94AEC21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24050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 reliability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Timeout, partial result, schema drift, or transient failure.</a:t>
            </a:r>
          </a:p>
        </p:txBody>
      </p:sp>
      <p:sp>
        <p:nvSpPr>
          <p:cNvPr id="4" name="grid-10-3">
            <a:extLst xmlns:a="http://schemas.openxmlformats.org/drawingml/2006/main">
              <a:ext uri="{FF2B5EF4-FFF2-40B4-BE49-F238E27FC236}">
                <a16:creationId xmlns:a16="http://schemas.microsoft.com/office/drawing/2014/main" id="{6C4D3571-1752-4DFA-BC9C-98DE534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Adversarial context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 injection, fake authority, or poisoned memory.</a:t>
            </a:r>
          </a:p>
        </p:txBody>
      </p:sp>
      <p:sp>
        <p:nvSpPr>
          <p:cNvPr id="5" name="grid-10-4">
            <a:extLst xmlns:a="http://schemas.openxmlformats.org/drawingml/2006/main">
              <a:ext uri="{FF2B5EF4-FFF2-40B4-BE49-F238E27FC236}">
                <a16:creationId xmlns:a16="http://schemas.microsoft.com/office/drawing/2014/main" id="{46D522AD-267B-4AE0-A9FE-5077E0A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10025"/>
            <a:ext cx="553402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pressure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budget, interruption, deadline, or approval constraint.</a:t>
            </a:r>
          </a:p>
        </p:txBody>
      </p:sp>
      <p:sp>
        <p:nvSpPr>
          <p:cNvPr id="6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ED14AB50-230B-4883-A0A7-3ADCF12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7" name="source-10">
            <a:extLst xmlns:a="http://schemas.openxmlformats.org/drawingml/2006/main">
              <a:ext uri="{FF2B5EF4-FFF2-40B4-BE49-F238E27FC236}">
                <a16:creationId xmlns:a16="http://schemas.microsoft.com/office/drawing/2014/main" id="{C25B0D69-0232-47B7-8F2D-74D6BDF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0287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t>Paired clean/perturbed protocol</a:t>
            </a:r>
          </a:p>
        </p:txBody>
      </p:sp>
    </p:spTree>
    <p:extLst>
      <p:ext uri="{BB962C8B-B14F-4D97-AF65-F5344CB8AC3E}">
        <p14:creationId xmlns:p14="http://schemas.microsoft.com/office/powerpoint/2010/main" val="20998620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1">
            <a:extLst xmlns:a="http://schemas.openxmlformats.org/drawingml/2006/main">
              <a:ext uri="{FF2B5EF4-FFF2-40B4-BE49-F238E27FC236}">
                <a16:creationId xmlns:a16="http://schemas.microsoft.com/office/drawing/2014/main" id="{B063DAF2-12AC-4005-8491-CAF9131B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experiment freezes decisions before model execution</a:t>
            </a:r>
          </a:p>
        </p:txBody>
      </p:sp>
      <p:cxnSp>
        <p:nvCxnSpPr>
          <p:cNvPr id="14" name="timeline-11"/>
          <p:cNvCxnSpPr/>
          <p:nvPr/>
        </p:nvCxnSpPr>
        <p:spPr>
          <a:xfrm xmlns:a="http://schemas.openxmlformats.org/drawingml/2006/main">
            <a:off x="333375" y="3371850"/>
            <a:ext cx="1146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dot-11-0">
            <a:extLst xmlns:a="http://schemas.openxmlformats.org/drawingml/2006/main">
              <a:ext uri="{FF2B5EF4-FFF2-40B4-BE49-F238E27FC236}">
                <a16:creationId xmlns:a16="http://schemas.microsoft.com/office/drawing/2014/main" id="{E1B2863E-A8F8-41AD-9AF5-3335F21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phase-11-0">
            <a:extLst xmlns:a="http://schemas.openxmlformats.org/drawingml/2006/main">
              <a:ext uri="{FF2B5EF4-FFF2-40B4-BE49-F238E27FC236}">
                <a16:creationId xmlns:a16="http://schemas.microsoft.com/office/drawing/2014/main" id="{1B9A6CE3-B51F-4C7C-801D-4D81650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</a:t>
            </a:r>
          </a:p>
        </p:txBody>
      </p:sp>
      <p:sp>
        <p:nvSpPr>
          <p:cNvPr id="5" name="step-11-0">
            <a:extLst xmlns:a="http://schemas.openxmlformats.org/drawingml/2006/main">
              <a:ext uri="{FF2B5EF4-FFF2-40B4-BE49-F238E27FC236}">
                <a16:creationId xmlns:a16="http://schemas.microsoft.com/office/drawing/2014/main" id="{71DFCCAE-A434-48B4-91FB-AB0C43B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Hash the grid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Models, baselines, tasks, settings, budgets, cost cap, and code state.</a:t>
            </a:r>
          </a:p>
        </p:txBody>
      </p:sp>
      <p:sp>
        <p:nvSpPr>
          <p:cNvPr id="6" name="dot-11-1">
            <a:extLst xmlns:a="http://schemas.openxmlformats.org/drawingml/2006/main">
              <a:ext uri="{FF2B5EF4-FFF2-40B4-BE49-F238E27FC236}">
                <a16:creationId xmlns:a16="http://schemas.microsoft.com/office/drawing/2014/main" id="{7DE7A9A6-93C4-4D9C-985D-43F7BD36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phase-11-1">
            <a:extLst xmlns:a="http://schemas.openxmlformats.org/drawingml/2006/main">
              <a:ext uri="{FF2B5EF4-FFF2-40B4-BE49-F238E27FC236}">
                <a16:creationId xmlns:a16="http://schemas.microsoft.com/office/drawing/2014/main" id="{B513C697-3A0F-419C-B8E6-85CD0B2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</a:t>
            </a:r>
          </a:p>
        </p:txBody>
      </p:sp>
      <p:sp>
        <p:nvSpPr>
          <p:cNvPr id="8" name="step-11-1">
            <a:extLst xmlns:a="http://schemas.openxmlformats.org/drawingml/2006/main">
              <a:ext uri="{FF2B5EF4-FFF2-40B4-BE49-F238E27FC236}">
                <a16:creationId xmlns:a16="http://schemas.microsoft.com/office/drawing/2014/main" id="{1D32FE58-BE5A-48DE-A4F5-201FD227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Double-confirm cost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Dry by default; execution stops on failed cells and redacts logs.</a:t>
            </a:r>
          </a:p>
        </p:txBody>
      </p:sp>
      <p:sp>
        <p:nvSpPr>
          <p:cNvPr id="9" name="dot-11-2">
            <a:extLst xmlns:a="http://schemas.openxmlformats.org/drawingml/2006/main">
              <a:ext uri="{FF2B5EF4-FFF2-40B4-BE49-F238E27FC236}">
                <a16:creationId xmlns:a16="http://schemas.microsoft.com/office/drawing/2014/main" id="{B9D0D3F2-447A-4982-A3C0-21ECCE9A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phase-11-2">
            <a:extLst xmlns:a="http://schemas.openxmlformats.org/drawingml/2006/main">
              <a:ext uri="{FF2B5EF4-FFF2-40B4-BE49-F238E27FC236}">
                <a16:creationId xmlns:a16="http://schemas.microsoft.com/office/drawing/2014/main" id="{F94FBE7B-84F4-484F-A1E4-AA2A0AC4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</a:t>
            </a:r>
          </a:p>
        </p:txBody>
      </p:sp>
      <p:sp>
        <p:nvSpPr>
          <p:cNvPr id="11" name="step-11-2">
            <a:extLst xmlns:a="http://schemas.openxmlformats.org/drawingml/2006/main">
              <a:ext uri="{FF2B5EF4-FFF2-40B4-BE49-F238E27FC236}">
                <a16:creationId xmlns:a16="http://schemas.microsoft.com/office/drawing/2014/main" id="{82F6C04D-17F4-4817-BE79-E332ADAE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315277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Pair and quantify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Bootstrap intervals, within-task variance, robustness, and failures.</a:t>
            </a:r>
          </a:p>
        </p:txBody>
      </p:sp>
      <p:sp>
        <p:nvSpPr>
          <p:cNvPr id="1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68114CD7-BD79-48CB-B161-9C6B3334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89240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2">
            <a:extLst xmlns:a="http://schemas.openxmlformats.org/drawingml/2006/main">
              <a:ext uri="{FF2B5EF4-FFF2-40B4-BE49-F238E27FC236}">
                <a16:creationId xmlns:a16="http://schemas.microsoft.com/office/drawing/2014/main" id="{EBE5B176-B6DD-4677-8882-F9C6B1C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evidence is complete; capability evidence is not</a:t>
            </a:r>
          </a:p>
        </p:txBody>
      </p:sp>
      <p:sp>
        <p:nvSpPr>
          <p:cNvPr id="2" name="intro-12">
            <a:extLst xmlns:a="http://schemas.openxmlformats.org/drawingml/2006/main">
              <a:ext uri="{FF2B5EF4-FFF2-40B4-BE49-F238E27FC236}">
                <a16:creationId xmlns:a16="http://schemas.microsoft.com/office/drawing/2014/main" id="{56A1482F-53ED-4533-B0F4-4437CBF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0142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engineering pipeline is executable end to end with mock models and an isolated browser demo. Mock output validates plumbing and is excluded from the leaderboard.</a:t>
            </a:r>
          </a:p>
        </p:txBody>
      </p:sp>
      <p:sp>
        <p:nvSpPr>
          <p:cNvPr id="3" name="panel-12-0">
            <a:extLst xmlns:a="http://schemas.openxmlformats.org/drawingml/2006/main">
              <a:ext uri="{FF2B5EF4-FFF2-40B4-BE49-F238E27FC236}">
                <a16:creationId xmlns:a16="http://schemas.microsoft.com/office/drawing/2014/main" id="{D0A8CBCA-D372-4578-A916-92E03FD7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tat-12-0">
            <a:extLst xmlns:a="http://schemas.openxmlformats.org/drawingml/2006/main">
              <a:ext uri="{FF2B5EF4-FFF2-40B4-BE49-F238E27FC236}">
                <a16:creationId xmlns:a16="http://schemas.microsoft.com/office/drawing/2014/main" id="{5859AC2A-C10F-4CE0-9983-BBFC2DC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</a:t>
            </a:r>
          </a:p>
        </p:txBody>
      </p:sp>
      <p:sp>
        <p:nvSpPr>
          <p:cNvPr id="5" name="label-12-0">
            <a:extLst xmlns:a="http://schemas.openxmlformats.org/drawingml/2006/main">
              <a:ext uri="{FF2B5EF4-FFF2-40B4-BE49-F238E27FC236}">
                <a16:creationId xmlns:a16="http://schemas.microsoft.com/office/drawing/2014/main" id="{DB6A833C-6CE2-4399-89B3-AFC3180E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registered scenario instances</a:t>
            </a:r>
          </a:p>
        </p:txBody>
      </p:sp>
      <p:sp>
        <p:nvSpPr>
          <p:cNvPr id="6" name="panel-12-1">
            <a:extLst xmlns:a="http://schemas.openxmlformats.org/drawingml/2006/main">
              <a:ext uri="{FF2B5EF4-FFF2-40B4-BE49-F238E27FC236}">
                <a16:creationId xmlns:a16="http://schemas.microsoft.com/office/drawing/2014/main" id="{A25CC184-BDB8-4358-811F-63CAC44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stat-12-1">
            <a:extLst xmlns:a="http://schemas.openxmlformats.org/drawingml/2006/main">
              <a:ext uri="{FF2B5EF4-FFF2-40B4-BE49-F238E27FC236}">
                <a16:creationId xmlns:a16="http://schemas.microsoft.com/office/drawing/2014/main" id="{02137C1D-535C-4B5D-B684-B385298E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8 × 2</a:t>
            </a:r>
          </a:p>
        </p:txBody>
      </p:sp>
      <p:sp>
        <p:nvSpPr>
          <p:cNvPr id="8" name="label-12-1">
            <a:extLst xmlns:a="http://schemas.openxmlformats.org/drawingml/2006/main">
              <a:ext uri="{FF2B5EF4-FFF2-40B4-BE49-F238E27FC236}">
                <a16:creationId xmlns:a16="http://schemas.microsoft.com/office/drawing/2014/main" id="{9ABB47F3-4009-418A-94E7-2F66C046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architectures/ablations × conditions</a:t>
            </a:r>
          </a:p>
        </p:txBody>
      </p:sp>
      <p:sp>
        <p:nvSpPr>
          <p:cNvPr id="9" name="panel-12-2">
            <a:extLst xmlns:a="http://schemas.openxmlformats.org/drawingml/2006/main">
              <a:ext uri="{FF2B5EF4-FFF2-40B4-BE49-F238E27FC236}">
                <a16:creationId xmlns:a16="http://schemas.microsoft.com/office/drawing/2014/main" id="{3F84D4C2-5E82-417D-ABB9-027A6C0B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stat-12-2">
            <a:extLst xmlns:a="http://schemas.openxmlformats.org/drawingml/2006/main">
              <a:ext uri="{FF2B5EF4-FFF2-40B4-BE49-F238E27FC236}">
                <a16:creationId xmlns:a16="http://schemas.microsoft.com/office/drawing/2014/main" id="{3F14CB0C-B150-4709-9914-7B66E08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label-12-2">
            <a:extLst xmlns:a="http://schemas.openxmlformats.org/drawingml/2006/main">
              <a:ext uri="{FF2B5EF4-FFF2-40B4-BE49-F238E27FC236}">
                <a16:creationId xmlns:a16="http://schemas.microsoft.com/office/drawing/2014/main" id="{6C840168-55EC-4A19-815D-DFA17F6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4322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frontier-model claims published</a:t>
            </a:r>
          </a:p>
        </p:txBody>
      </p:sp>
      <p:sp>
        <p:nvSpPr>
          <p:cNvPr id="1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92917BDA-F773-4729-9260-54F1092E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04107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3">
            <a:extLst xmlns:a="http://schemas.openxmlformats.org/drawingml/2006/main">
              <a:ext uri="{FF2B5EF4-FFF2-40B4-BE49-F238E27FC236}">
                <a16:creationId xmlns:a16="http://schemas.microsoft.com/office/drawing/2014/main" id="{3D52AFC3-5849-438E-8A69-A60A182A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claims wait for three external evidence gates</a:t>
            </a:r>
          </a:p>
        </p:txBody>
      </p:sp>
      <p:cxnSp>
        <p:nvCxnSpPr>
          <p:cNvPr id="17" name="base-line-13"/>
          <p:cNvCxnSpPr/>
          <p:nvPr/>
        </p:nvCxnSpPr>
        <p:spPr>
          <a:xfrm xmlns:a="http://schemas.openxmlformats.org/drawingml/2006/main">
            <a:off x="333375" y="5343525"/>
            <a:ext cx="11468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card-13-0">
            <a:extLst xmlns:a="http://schemas.openxmlformats.org/drawingml/2006/main">
              <a:ext uri="{FF2B5EF4-FFF2-40B4-BE49-F238E27FC236}">
                <a16:creationId xmlns:a16="http://schemas.microsoft.com/office/drawing/2014/main" id="{7C87A5ED-D025-4EF5-B461-B8D926CE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ard-text-13-0">
            <a:extLst xmlns:a="http://schemas.openxmlformats.org/drawingml/2006/main">
              <a:ext uri="{FF2B5EF4-FFF2-40B4-BE49-F238E27FC236}">
                <a16:creationId xmlns:a16="http://schemas.microsoft.com/office/drawing/2014/main" id="{FF464B63-7753-4343-9964-3C4EE260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Multi-model runs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model families, matched budgets, both conditions, and repeated trials.</a:t>
            </a:r>
          </a:p>
        </p:txBody>
      </p:sp>
      <p:sp>
        <p:nvSpPr>
          <p:cNvPr id="5" name="dot-13-0">
            <a:extLst xmlns:a="http://schemas.openxmlformats.org/drawingml/2006/main">
              <a:ext uri="{FF2B5EF4-FFF2-40B4-BE49-F238E27FC236}">
                <a16:creationId xmlns:a16="http://schemas.microsoft.com/office/drawing/2014/main" id="{9EABD377-EF40-47B8-8CD9-B35C6738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label-13-0">
            <a:extLst xmlns:a="http://schemas.openxmlformats.org/drawingml/2006/main">
              <a:ext uri="{FF2B5EF4-FFF2-40B4-BE49-F238E27FC236}">
                <a16:creationId xmlns:a16="http://schemas.microsoft.com/office/drawing/2014/main" id="{BAD6401F-7E87-44CE-9D02-3892622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EMPIRICAL</a:t>
            </a:r>
          </a:p>
        </p:txBody>
      </p:sp>
      <p:sp>
        <p:nvSpPr>
          <p:cNvPr id="7" name="card-13-1">
            <a:extLst xmlns:a="http://schemas.openxmlformats.org/drawingml/2006/main">
              <a:ext uri="{FF2B5EF4-FFF2-40B4-BE49-F238E27FC236}">
                <a16:creationId xmlns:a16="http://schemas.microsoft.com/office/drawing/2014/main" id="{3554A5BC-8810-4D34-A136-533CB13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ard-text-13-1">
            <a:extLst xmlns:a="http://schemas.openxmlformats.org/drawingml/2006/main">
              <a:ext uri="{FF2B5EF4-FFF2-40B4-BE49-F238E27FC236}">
                <a16:creationId xmlns:a16="http://schemas.microsoft.com/office/drawing/2014/main" id="{B3D5AC25-D676-4493-917F-6FC8F161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Blinded agreement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Humans, optional LLM judge, and deterministic labels compared with confusion tables.</a:t>
            </a:r>
          </a:p>
        </p:txBody>
      </p:sp>
      <p:sp>
        <p:nvSpPr>
          <p:cNvPr id="9" name="dot-13-1">
            <a:extLst xmlns:a="http://schemas.openxmlformats.org/drawingml/2006/main">
              <a:ext uri="{FF2B5EF4-FFF2-40B4-BE49-F238E27FC236}">
                <a16:creationId xmlns:a16="http://schemas.microsoft.com/office/drawing/2014/main" id="{DBC0D347-047F-4F16-88FE-3D71338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label-13-1">
            <a:extLst xmlns:a="http://schemas.openxmlformats.org/drawingml/2006/main">
              <a:ext uri="{FF2B5EF4-FFF2-40B4-BE49-F238E27FC236}">
                <a16:creationId xmlns:a16="http://schemas.microsoft.com/office/drawing/2014/main" id="{6EC356BF-A540-4957-BE5D-8686E1A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VALIDITY</a:t>
            </a:r>
          </a:p>
        </p:txBody>
      </p:sp>
      <p:sp>
        <p:nvSpPr>
          <p:cNvPr id="11" name="card-13-2">
            <a:extLst xmlns:a="http://schemas.openxmlformats.org/drawingml/2006/main">
              <a:ext uri="{FF2B5EF4-FFF2-40B4-BE49-F238E27FC236}">
                <a16:creationId xmlns:a16="http://schemas.microsoft.com/office/drawing/2014/main" id="{8B836F04-764B-4474-ADC5-66813872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01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ard-text-13-2">
            <a:extLst xmlns:a="http://schemas.openxmlformats.org/drawingml/2006/main">
              <a:ext uri="{FF2B5EF4-FFF2-40B4-BE49-F238E27FC236}">
                <a16:creationId xmlns:a16="http://schemas.microsoft.com/office/drawing/2014/main" id="{0F13A21E-1B60-4A36-9A49-1E9356FD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9750"/>
            <a:ext cx="2952750" cy="2562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reproduction
</a:t>
            </a: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clean machine rebuilds the world, runs the protocol, and regenerates analysis.</a:t>
            </a:r>
          </a:p>
        </p:txBody>
      </p:sp>
      <p:sp>
        <p:nvSpPr>
          <p:cNvPr id="13" name="dot-13-2">
            <a:extLst xmlns:a="http://schemas.openxmlformats.org/drawingml/2006/main">
              <a:ext uri="{FF2B5EF4-FFF2-40B4-BE49-F238E27FC236}">
                <a16:creationId xmlns:a16="http://schemas.microsoft.com/office/drawing/2014/main" id="{851AD3A6-3D0D-455D-8779-EC409CB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label-13-2">
            <a:extLst xmlns:a="http://schemas.openxmlformats.org/drawingml/2006/main">
              <a:ext uri="{FF2B5EF4-FFF2-40B4-BE49-F238E27FC236}">
                <a16:creationId xmlns:a16="http://schemas.microsoft.com/office/drawing/2014/main" id="{2FF73042-4BC1-4599-B316-B88B64D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007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47625" rIns="9525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REPRODUCIBLE</a:t>
            </a:r>
          </a:p>
        </p:txBody>
      </p:sp>
      <p:sp>
        <p:nvSpPr>
          <p:cNvPr id="15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33752091-D5E9-4C72-92C4-05AE181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96370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C669C2F-A5B3-4ADE-B370-23D109F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OPEN RESEARCH ASK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7323511-A197-412B-A046-E46004A8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477500" cy="2495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Try to break the benchmark</a:t>
            </a:r>
          </a:p>
        </p:txBody>
      </p:sp>
      <p:sp>
        <p:nvSpPr>
          <p:cNvPr id="3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5FAA3EDA-4FD4-4919-A4E9-96A9087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7429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Reproduce a run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Challenge an oracle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Contribute a task or perturbation</a:t>
            </a:r>
          </a:p>
        </p:txBody>
      </p:sp>
      <p:sp>
        <p:nvSpPr>
          <p:cNvPr id="4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CD044606-45C2-41B2-A20F-5D14AFE4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9251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2026-07-17T16:17:44.3940000Z</dcterms:created>
  <dcterms:modified xsi:type="dcterms:W3CDTF">2026-07-17T16:17:44.3940000Z</dcterms:modified>
</coreProperties>
</file>